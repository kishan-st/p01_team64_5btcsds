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F0A20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5156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ShopVerse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49808" y="1874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7E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E-Commerce Management Platform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49808" y="2331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 ·  Express.js  ·  MongoDB  ·  Mongoose  ·  JWT  ·  bcrypt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49808" y="2834640"/>
            <a:ext cx="2743200" cy="1828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3017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CIA-3 Project Development  ·  5th Semester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3337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F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Christ University  ·  L&amp;T EduTech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4160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8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Submitted by: ______________________________          Guide: ______________________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44348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8C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fill in on this line ]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E1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Details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12280" y="91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Fill in every field before submission — this page is required as page 1 of the submission PDF.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926080"/>
                <a:gridCol w="2194560"/>
                <a:gridCol w="2011680"/>
                <a:gridCol w="914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Register Number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Department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246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____________________________________         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Semester: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5th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 / Faculty: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___________________________         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of submission: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E1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12280" y="91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online marketplace has to serve three different kinds of user at once — customers who buy, sellers who list and fulfil, and administrators who oversee the platform. Each needs a different view of the same data, and none may see or change what belongs to another.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such systems typically fail: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81381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oversells when two customers order the last unit at the same time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logged-in user can call any route, because role checks were never added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status becomes a free-text field, so invalid jumps go unnoticed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Coupons are validated in the browser and trusted by the server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price change silently rewrites the totals of past orders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unhandled error crashes the whole server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E1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12280" y="91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81381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a secure REST API with JWT authentication and bcrypt password hashing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 role-based access for Customer, Seller and Administrator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the catalog, cart, orders, coupons and reviews in MongoDB with deliberate embed-vs-reference choices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 the complete order lifecycle as a controlled state machine, not free-form updates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inventory correct under concurrency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every request server-side and return consistent, documented JSON errors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 seller analytics and admin reporting through aggregation pipelines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Demonstrate the whole system through Postman and a working web frontend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E1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Modules Implemented — all 14 mandatory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12280" y="91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5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"/>
                <a:gridCol w="3749040"/>
                <a:gridCol w="384048"/>
                <a:gridCol w="371246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Module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Module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Registration &amp; Authentication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Order Status Workflow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Role-Based Access Control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Inventory &amp; Stock Management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 Catalog Management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Discount &amp; Coupon Engine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 &amp; Sub-Category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Payment Status Tracking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 Search &amp; Filtering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Reviews &amp; Ratings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Shopping Cart Management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Seller Dashboard APIs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Order Placement &amp; Checkout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Admin Reporting &amp; Analytics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2245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Beyond the baseline: refresh tokens · saved addresses · wishlist-ready product model · inventory report · dark mode · fully responsive frontend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E1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12280" y="91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6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651760"/>
                <a:gridCol w="42062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Layer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Technology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Runtime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Node.js 22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Non-blocking I/O suits an API-heavy workload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Framework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Express 4.21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Minimal, middleware-driven, matches MVC cleanly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Database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MongoDB 8 (Atlas)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 model fits orders that embed their items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ODM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Mongoose 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Schema validation, hooks, population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jsonwebtoken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Stateless sessions, no server-side store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Hashing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bcryptjs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Adaptive cost factor (10 rounds)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express-validator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Declarative per-route request checking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Security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helmet · cors · rate-limit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Headers, origin control, brute-force protection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Frontend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HTML · CSS · JS · Bootstrap 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Demonstrates the API live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Charts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Chart.js 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Seller and admin analytics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Postman / Newman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104 requests, 326 assertions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E1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 — MVC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12280" y="91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417320" y="914400"/>
            <a:ext cx="6309360" cy="457200"/>
          </a:xfrm>
          <a:prstGeom prst="roundRect">
            <a:avLst>
              <a:gd name="adj" fmla="val 12000"/>
            </a:avLst>
          </a:prstGeom>
          <a:solidFill>
            <a:srgbClr val="B7E4C7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914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D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D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frontend · Postman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434840" y="1344168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C5C"/>
                </a:solidFill>
              </a:rPr>
              <a:t>▼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17320" y="1490472"/>
            <a:ext cx="6309360" cy="457200"/>
          </a:xfrm>
          <a:prstGeom prst="roundRect">
            <a:avLst>
              <a:gd name="adj" fmla="val 12000"/>
            </a:avLst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14904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D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14904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D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routers · validation chains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434840" y="1920240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C5C"/>
                </a:solidFill>
              </a:rPr>
              <a:t>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417320" y="2066544"/>
            <a:ext cx="6309360" cy="457200"/>
          </a:xfrm>
          <a:prstGeom prst="roundRect">
            <a:avLst>
              <a:gd name="adj" fmla="val 12000"/>
            </a:avLst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206654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D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Middleware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206654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D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 (401) → authorize (403) → validate (400)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34840" y="249631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C5C"/>
                </a:solidFill>
              </a:rPr>
              <a:t>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417320" y="2642616"/>
            <a:ext cx="6309360" cy="457200"/>
          </a:xfrm>
          <a:prstGeom prst="roundRect">
            <a:avLst>
              <a:gd name="adj" fmla="val 12000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264261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264261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logic · rule enforcement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34840" y="3072384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C5C"/>
                </a:solidFill>
              </a:rPr>
              <a:t>▼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417320" y="3218688"/>
            <a:ext cx="6309360" cy="457200"/>
          </a:xfrm>
          <a:prstGeom prst="roundRect">
            <a:avLst>
              <a:gd name="adj" fmla="val 120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321868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17520" y="321868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Mongoose schemas · hooks · indexes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434840" y="3648456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C5C"/>
                </a:solidFill>
              </a:rPr>
              <a:t>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417320" y="3794760"/>
            <a:ext cx="6309360" cy="457200"/>
          </a:xfrm>
          <a:prstGeom prst="roundRect">
            <a:avLst>
              <a:gd name="adj" fmla="val 12000"/>
            </a:avLst>
          </a:prstGeom>
          <a:solidFill>
            <a:srgbClr val="0F2E1F"/>
          </a:solidFill>
          <a:ln w="12700">
            <a:solidFill>
              <a:srgbClr val="0F2E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54480" y="3794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017520" y="3794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MongoDB Atlas — 7 collections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request passes top to bottom; the centralised error handler sits below all of it and converts any failure into consistent JSON.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E1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Design — 7 Collections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12280" y="91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8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749040"/>
                <a:gridCol w="28346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Collection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Relationship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Decision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: N products / orders / reviews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addresses EMBEDDED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categories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self-reference via parent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REFERENCE (tree)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 : 1 category, N : 1 seller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REFERENCE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carts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: 1 user (unique index)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items EMBEDDED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orders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 : 1 user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items EMBEDDED as snapshot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coupons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: N orders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REFERENCE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reviews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 : 1 product, N : 1 user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REFERENCE + compound unique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246120"/>
            <a:ext cx="8229600" cy="841248"/>
          </a:xfrm>
          <a:prstGeom prst="rect">
            <a:avLst/>
          </a:prstGeom>
          <a:solidFill>
            <a:srgbClr val="F1F8F4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" y="3310128"/>
            <a:ext cx="79004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rule applied throughout: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 what is always read with its parent and rarely changes on its own; reference what is large, shared, or updated independently.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items are the clearest case — they are embedded </a:t>
            </a:r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they copy name, image and price at checkout, so an order is a historical record that a later price change can never rewrite.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E1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12280" y="91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9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91840"/>
                <a:gridCol w="338328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Collection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Index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{ email: 1 } unique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Login lookup + uniqueness guarantee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{ name, description, brand } text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Keyword search without a regex scan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{ category: 1, isActive: 1 }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most common listing query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{ seller: 1 } · { price: 1 }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Seller catalog · price filter and sort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categories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{ parent: 1, isActive: 1 }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Building the category tree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{ user: 1 } unique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cart per user, enforced by the DB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orders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{ user: 1, createdAt: -1 }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"My orders", newest first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orders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{ status: 1 } · { items.seller: 1 }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Admin filtering · seller order queue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reviews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{ user: 1, product: 1 } unique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review per product per customer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last one is the point: "one review per product" is a database guarantee, not just an if-statement.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E1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Implementation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12280" y="91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54864" cy="42062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868680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bcrypt hashing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868680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factor 10. A pre-save hook with an isModified guard, so a profile update never re-hashes.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4864" cy="42062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371600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authentication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1371600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Stateless access tokens. The user is re-read on every request, so a deactivated account loses access at once.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54864" cy="42062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1874520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1874520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 returns 401; authorize returns 403. Two different failures, two different codes.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54864" cy="42062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2377440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Ownership checks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2377440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seller may only touch their own products; admin bypasses.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54864" cy="42062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2880360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Server-side validation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2880360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express-validator on every write route, plus schema validation underneath.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54864" cy="42062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3383280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ObjectId guarding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0" y="3383280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malformed :id is a clean 400, never a 500 CastError.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54864" cy="42062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3886200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Secrets in .env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0" y="3886200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URI or signing key anywhere in source. .env is git-ignored; .env.example is committed.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389120"/>
            <a:ext cx="54864" cy="42062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4389120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limiting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0" y="4389120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routes are throttled per IP against brute force.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E1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Rules — beyond CRUD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12280" y="91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11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389120"/>
                <a:gridCol w="128016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Rule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it is enforced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failure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Stock can never oversell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conditional $inc; the guard is in the query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Cart respects live stock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Checked against the product on every add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 follows the graph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Declared transition map, checked both ways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Only some statuses cancel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 may cancel Placed / Confirmed only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Cancelling restores stock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Reverse $inc on leaving the pipeline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Coupons re-validated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Same evaluate() at preview and at checkout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Review needs delivery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Must own a Delivered order with that product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403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review per product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Compound unique index in MongoDB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409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Sellers are isolated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Ownership check on every write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403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 in use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Refuses delete while products reference it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E1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Design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12280" y="91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Consistent envelope on every response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4114800" cy="1234440"/>
          </a:xfrm>
          <a:prstGeom prst="rect">
            <a:avLst/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887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"success": true,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"message": "Products fetched.",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"data": [ ... 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"meta": { "page": 1, "total": 33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15568"/>
            <a:ext cx="3931920" cy="1234440"/>
          </a:xfrm>
          <a:prstGeom prst="rect">
            <a:avLst/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1887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"success": false,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"message": "Coupon has expired.",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"errorCode": "BUSINESS_RULE_VIOLATION"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487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codes used deliberately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8892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023360"/>
                <a:gridCol w="33832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Code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Meaning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errorCode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Malformed input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VALIDATION_ERROR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 input, rule says no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BUSINESS_RULE_VIOLATION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401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authenticated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UNAUTHENTICATED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403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Authenticated, wrong role or owner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FORBIDDEN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404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such record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NOT_FOUND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409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Duplicate / already exists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CONFLICT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E1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— Home &amp; Catalog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12280" y="91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13</a:t>
            </a:r>
            <a:endParaRPr lang="en-US" sz="1100" dirty="0"/>
          </a:p>
        </p:txBody>
      </p:sp>
      <p:pic>
        <p:nvPicPr>
          <p:cNvPr id="5" name="Image 0" descr="c:\Users\stkis\OneDrive\Desktop\5BTCSDS\lntproject\docs\screenshots\01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841248"/>
            <a:ext cx="8375904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4048" y="4370832"/>
            <a:ext cx="8375904" cy="502920"/>
          </a:xfrm>
          <a:prstGeom prst="rect">
            <a:avLst/>
          </a:prstGeom>
          <a:solidFill>
            <a:srgbClr val="F1F8F4"/>
          </a:solidFill>
          <a:ln w="12700">
            <a:solidFill>
              <a:srgbClr val="F1F8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4370832"/>
            <a:ext cx="45720" cy="5029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437083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D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Landing page: category navigation, deals with a live countdown, featured products loaded from the API.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E1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— Search &amp; Filtering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12280" y="91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14</a:t>
            </a:r>
            <a:endParaRPr lang="en-US" sz="1100" dirty="0"/>
          </a:p>
        </p:txBody>
      </p:sp>
      <p:pic>
        <p:nvPicPr>
          <p:cNvPr id="5" name="Image 0" descr="c:\Users\stkis\OneDrive\Desktop\5BTCSDS\lntproject\docs\screenshots\04-produc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841248"/>
            <a:ext cx="8375904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4048" y="4370832"/>
            <a:ext cx="8375904" cy="502920"/>
          </a:xfrm>
          <a:prstGeom prst="rect">
            <a:avLst/>
          </a:prstGeom>
          <a:solidFill>
            <a:srgbClr val="F1F8F4"/>
          </a:solidFill>
          <a:ln w="12700">
            <a:solidFill>
              <a:srgbClr val="F1F8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4370832"/>
            <a:ext cx="45720" cy="5029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437083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D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5: rating and availability filters applied together, shown as removable chips; the price slider and sort are combinable.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E1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— Cart &amp; Coupon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12280" y="91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15</a:t>
            </a:r>
            <a:endParaRPr lang="en-US" sz="1100" dirty="0"/>
          </a:p>
        </p:txBody>
      </p:sp>
      <p:pic>
        <p:nvPicPr>
          <p:cNvPr id="5" name="Image 0" descr="c:\Users\stkis\OneDrive\Desktop\5BTCSDS\lntproject\docs\screenshots\06-c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841248"/>
            <a:ext cx="8375904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4048" y="4370832"/>
            <a:ext cx="8375904" cy="502920"/>
          </a:xfrm>
          <a:prstGeom prst="rect">
            <a:avLst/>
          </a:prstGeom>
          <a:solidFill>
            <a:srgbClr val="F1F8F4"/>
          </a:solidFill>
          <a:ln w="12700">
            <a:solidFill>
              <a:srgbClr val="F1F8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4370832"/>
            <a:ext cx="45720" cy="5029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437083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D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Modules 6 and 10: quantity capped at live stock, WELCOME10 applied, totals recalculated server-side.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E1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— Order Tracking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12280" y="91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16</a:t>
            </a:r>
            <a:endParaRPr lang="en-US" sz="1100" dirty="0"/>
          </a:p>
        </p:txBody>
      </p:sp>
      <p:pic>
        <p:nvPicPr>
          <p:cNvPr id="5" name="Image 0" descr="c:\Users\stkis\OneDrive\Desktop\5BTCSDS\lntproject\docs\screenshots\10-track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841248"/>
            <a:ext cx="8375904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4048" y="4370832"/>
            <a:ext cx="8375904" cy="502920"/>
          </a:xfrm>
          <a:prstGeom prst="rect">
            <a:avLst/>
          </a:prstGeom>
          <a:solidFill>
            <a:srgbClr val="F1F8F4"/>
          </a:solidFill>
          <a:ln w="12700">
            <a:solidFill>
              <a:srgbClr val="F1F8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4370832"/>
            <a:ext cx="45720" cy="5029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437083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D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8: the status timeline, driven by the transition graph. Cancel appears only while the rules permit it.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E1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— Seller Dashboard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12280" y="91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17</a:t>
            </a:r>
            <a:endParaRPr lang="en-US" sz="1100" dirty="0"/>
          </a:p>
        </p:txBody>
      </p:sp>
      <p:pic>
        <p:nvPicPr>
          <p:cNvPr id="5" name="Image 0" descr="c:\Users\stkis\OneDrive\Desktop\5BTCSDS\lntproject\docs\screenshots\11-sell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841248"/>
            <a:ext cx="8375904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4048" y="4370832"/>
            <a:ext cx="8375904" cy="502920"/>
          </a:xfrm>
          <a:prstGeom prst="rect">
            <a:avLst/>
          </a:prstGeom>
          <a:solidFill>
            <a:srgbClr val="F1F8F4"/>
          </a:solidFill>
          <a:ln w="12700">
            <a:solidFill>
              <a:srgbClr val="F1F8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4370832"/>
            <a:ext cx="45720" cy="5029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437083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D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Modules 9 and 13: revenue and rating KPIs with trend deltas, sales chart, and the low-stock alert panel.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E1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— Admin Dashboard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12280" y="91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18</a:t>
            </a:r>
            <a:endParaRPr lang="en-US" sz="1100" dirty="0"/>
          </a:p>
        </p:txBody>
      </p:sp>
      <p:pic>
        <p:nvPicPr>
          <p:cNvPr id="5" name="Image 0" descr="c:\Users\stkis\OneDrive\Desktop\5BTCSDS\lntproject\docs\screenshots\12-adm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841248"/>
            <a:ext cx="8375904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4048" y="4370832"/>
            <a:ext cx="8375904" cy="502920"/>
          </a:xfrm>
          <a:prstGeom prst="rect">
            <a:avLst/>
          </a:prstGeom>
          <a:solidFill>
            <a:srgbClr val="F1F8F4"/>
          </a:solidFill>
          <a:ln w="12700">
            <a:solidFill>
              <a:srgbClr val="F1F8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4370832"/>
            <a:ext cx="45720" cy="5029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437083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D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14: platform KPIs, sales analytics, user-growth chart, top products and an orders-by-status breakdown.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E1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— Atomic Stock Reservation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12280" y="91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19</a:t>
            </a:r>
            <a:endParaRPr lang="en-US" sz="1100" dirty="0"/>
          </a:p>
        </p:txBody>
      </p:sp>
      <p:pic>
        <p:nvPicPr>
          <p:cNvPr id="5" name="Image 0" descr="c:\Users\stkis\OneDrive\Desktop\5BTCSDS\lntproject\docs\code-screenshots\13-module9-atomic-sto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841248"/>
            <a:ext cx="8375904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4048" y="4370832"/>
            <a:ext cx="8375904" cy="502920"/>
          </a:xfrm>
          <a:prstGeom prst="rect">
            <a:avLst/>
          </a:prstGeom>
          <a:solidFill>
            <a:srgbClr val="F1F8F4"/>
          </a:solidFill>
          <a:ln w="12700">
            <a:solidFill>
              <a:srgbClr val="F1F8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4370832"/>
            <a:ext cx="45720" cy="5029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437083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D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stock guard lives inside the query, so two concurrent checkouts for the last unit cannot both succeed.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E1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— Order Status Transitions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12280" y="91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20</a:t>
            </a:r>
            <a:endParaRPr lang="en-US" sz="1100" dirty="0"/>
          </a:p>
        </p:txBody>
      </p:sp>
      <p:pic>
        <p:nvPicPr>
          <p:cNvPr id="5" name="Image 0" descr="c:\Users\stkis\OneDrive\Desktop\5BTCSDS\lntproject\docs\code-screenshots\11-module8-status-grap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841248"/>
            <a:ext cx="8375904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4048" y="4370832"/>
            <a:ext cx="8375904" cy="502920"/>
          </a:xfrm>
          <a:prstGeom prst="rect">
            <a:avLst/>
          </a:prstGeom>
          <a:solidFill>
            <a:srgbClr val="F1F8F4"/>
          </a:solidFill>
          <a:ln w="12700">
            <a:solidFill>
              <a:srgbClr val="F1F8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4370832"/>
            <a:ext cx="45720" cy="5029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437083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D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workflow is declared data, not scattered if-statements. Anything not in the graph is rejected.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E1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— Role-Based Access Control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12280" y="91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21</a:t>
            </a:r>
            <a:endParaRPr lang="en-US" sz="1100" dirty="0"/>
          </a:p>
        </p:txBody>
      </p:sp>
      <p:pic>
        <p:nvPicPr>
          <p:cNvPr id="5" name="Image 0" descr="c:\Users\stkis\OneDrive\Desktop\5BTCSDS\lntproject\docs\code-screenshots\05-module2-ro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841248"/>
            <a:ext cx="8375904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4048" y="4370832"/>
            <a:ext cx="8375904" cy="502920"/>
          </a:xfrm>
          <a:prstGeom prst="rect">
            <a:avLst/>
          </a:prstGeom>
          <a:solidFill>
            <a:srgbClr val="F1F8F4"/>
          </a:solidFill>
          <a:ln w="12700">
            <a:solidFill>
              <a:srgbClr val="F1F8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4370832"/>
            <a:ext cx="45720" cy="5029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437083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D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authorize() produces 403 for a wrong role; ownsOrAdmin() enforces per-record ownership with an admin bypass.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E1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Testing — Postman / Newman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12280" y="91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22</a:t>
            </a:r>
            <a:endParaRPr lang="en-US" sz="1100" dirty="0"/>
          </a:p>
        </p:txBody>
      </p:sp>
      <p:pic>
        <p:nvPicPr>
          <p:cNvPr id="5" name="Image 0" descr="c:\Users\stkis\OneDrive\Desktop\5BTCSDS\lntproject\docs\screenshots\18-newman-repo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841248"/>
            <a:ext cx="8375904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4048" y="4370832"/>
            <a:ext cx="8375904" cy="502920"/>
          </a:xfrm>
          <a:prstGeom prst="rect">
            <a:avLst/>
          </a:prstGeom>
          <a:solidFill>
            <a:srgbClr val="F1F8F4"/>
          </a:solidFill>
          <a:ln w="12700">
            <a:solidFill>
              <a:srgbClr val="F1F8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4370832"/>
            <a:ext cx="45720" cy="5029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437083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D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104 requests · 326 assertions · 0 failures. Every request also asserts the response is JSON and the status is below 500.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E1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Negative Testing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12280" y="91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23</a:t>
            </a:r>
            <a:endParaRPr lang="en-US" sz="1100" dirty="0"/>
          </a:p>
        </p:txBody>
      </p:sp>
      <p:pic>
        <p:nvPicPr>
          <p:cNvPr id="5" name="Image 0" descr="c:\Users\stkis\OneDrive\Desktop\5BTCSDS\lntproject\docs\screenshots\19-api-negative-tes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841248"/>
            <a:ext cx="8375904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4048" y="4370832"/>
            <a:ext cx="8375904" cy="502920"/>
          </a:xfrm>
          <a:prstGeom prst="rect">
            <a:avLst/>
          </a:prstGeom>
          <a:solidFill>
            <a:srgbClr val="F1F8F4"/>
          </a:solidFill>
          <a:ln w="12700">
            <a:solidFill>
              <a:srgbClr val="F1F8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4370832"/>
            <a:ext cx="45720" cy="5029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437083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D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failure path returns the right status and a stable errorCode — proving the rules are enforced, not merely documented.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E1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Evidence — bcrypt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12280" y="91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24</a:t>
            </a:r>
            <a:endParaRPr lang="en-US" sz="1100" dirty="0"/>
          </a:p>
        </p:txBody>
      </p:sp>
      <p:pic>
        <p:nvPicPr>
          <p:cNvPr id="5" name="Image 0" descr="c:\Users\stkis\OneDrive\Desktop\5BTCSDS\lntproject\docs\screenshots\20-db-users-bcryp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841248"/>
            <a:ext cx="8375904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4048" y="4370832"/>
            <a:ext cx="8375904" cy="502920"/>
          </a:xfrm>
          <a:prstGeom prst="rect">
            <a:avLst/>
          </a:prstGeom>
          <a:solidFill>
            <a:srgbClr val="F1F8F4"/>
          </a:solidFill>
          <a:ln w="12700">
            <a:solidFill>
              <a:srgbClr val="F1F8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4370832"/>
            <a:ext cx="45720" cy="5029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437083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D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users collection read straight from Atlas: every password is a $2a$10$ bcrypt hash. No plaintext is ever stored.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E1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12280" y="91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25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14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mandatory modules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02412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46120" y="14630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endpoints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91440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02412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035040" y="14630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MongoDB collections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196596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07568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326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7200" y="25146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assertions passing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46120" y="196596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207568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246120" y="25146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failures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35040" y="196596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07568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035040" y="25146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5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pages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3200400"/>
            <a:ext cx="81381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14 modules implemented and demonstrable — none stubbed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failure path returns a correct status code; no endpoint returns 500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end to end against MongoDB Atlas, not a local mock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E1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Limitations &amp; Future Scope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12280" y="91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 of scope by design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3931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gateway is mocked — permitted by the brief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email or SMS notifications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currency (INR) and single time zone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images are external URLs, not uploaded files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social login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822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scope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00600" y="1143000"/>
            <a:ext cx="3886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gateway (Razorpay / Stripe) behind the existing interface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Multi-transaction checkout using MongoDB sessions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Redis caching for the catalog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Full-text search via Atlas Search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Refund and return workflow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CI test run on every push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E1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132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12280" y="91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27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ShopVerse implements the complete product-to-order lifecycle for three distinct roles, on a MongoDB schema whose embed-versus-reference choices were made deliberately and are documented.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distinguishes it from CRUD: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81381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is correct under concurrency — the guard is inside the query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order lifecycle is a declared state machine, not an editable field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Authorization is enforced per role and per record, returning 401 and 403 correctly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Coupons and reviews are re-validated server-side, never trusted from the client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error is translated into a consistent JSON response with a stable code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2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7E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E8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Repository:  ______________________________________________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703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8C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paste your GitHub URL here ]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Christ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ShopVerse — Role-Based E-Commerce Management Platform</dc:title>
  <dc:subject>PptxGenJS Presentation</dc:subject>
  <dc:creator>ShopVerse Team</dc:creator>
  <cp:lastModifiedBy>ShopVerse Team</cp:lastModifiedBy>
  <cp:revision>1</cp:revision>
  <dcterms:created xsi:type="dcterms:W3CDTF">2026-09-09T12:19:32Z</dcterms:created>
  <dcterms:modified xsi:type="dcterms:W3CDTF">2026-09-09T12:19:32Z</dcterms:modified>
</cp:coreProperties>
</file>